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37"/>
    <p:restoredTop sz="94690"/>
  </p:normalViewPr>
  <p:slideViewPr>
    <p:cSldViewPr snapToGrid="0" snapToObjects="1">
      <p:cViewPr varScale="1">
        <p:scale>
          <a:sx n="108" d="100"/>
          <a:sy n="108" d="100"/>
        </p:scale>
        <p:origin x="22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4/27/19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4/27/19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4/27/19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4/27/19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4/27/19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4/27/19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4/27/19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4/27/19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4/27/19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4/27/19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4/27/19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4/27/19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4/27/19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4/27/19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4/27/19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4/27/19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4/27/19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4/27/19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billllllly.shinyapps.io/Duel_Energy_Decompositio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5302D-47EA-6740-AFBC-D6B969C888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Three Material Decomposition for Duel Energy 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3E0D4F-1A6B-2C44-8A09-7437F20768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Gengxin Shi</a:t>
            </a:r>
          </a:p>
        </p:txBody>
      </p:sp>
    </p:spTree>
    <p:extLst>
      <p:ext uri="{BB962C8B-B14F-4D97-AF65-F5344CB8AC3E}">
        <p14:creationId xmlns:p14="http://schemas.microsoft.com/office/powerpoint/2010/main" val="3703296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796E4E-AEBF-2F4B-8001-BD06E11C9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312" y="130502"/>
            <a:ext cx="4166510" cy="162232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EBEBEB"/>
                </a:solidFill>
              </a:rPr>
              <a:t>Background</a:t>
            </a:r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D82706-803C-7E4A-BFA4-D8BB866BE2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6691" y="1404800"/>
            <a:ext cx="5449889" cy="4400783"/>
          </a:xfrm>
          <a:prstGeom prst="rect">
            <a:avLst/>
          </a:prstGeom>
          <a:effectLst/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305F6-3C21-0545-A976-EE5C1B7F5C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473" y="941661"/>
            <a:ext cx="4166509" cy="566101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EBEBEB"/>
                </a:solidFill>
              </a:rPr>
              <a:t>X-ray image is produced due to attenuation of X-ray passing through materials </a:t>
            </a:r>
          </a:p>
          <a:p>
            <a:pPr lvl="1"/>
            <a:r>
              <a:rPr lang="en-US" dirty="0">
                <a:solidFill>
                  <a:srgbClr val="EBEBEB"/>
                </a:solidFill>
              </a:rPr>
              <a:t>Higher attenuation = less x-ray come through</a:t>
            </a:r>
          </a:p>
          <a:p>
            <a:r>
              <a:rPr lang="en-US" dirty="0">
                <a:solidFill>
                  <a:srgbClr val="EBEBEB"/>
                </a:solidFill>
              </a:rPr>
              <a:t>Attenuation value depend on both </a:t>
            </a:r>
            <a:r>
              <a:rPr lang="en-US" dirty="0">
                <a:solidFill>
                  <a:schemeClr val="accent1"/>
                </a:solidFill>
              </a:rPr>
              <a:t>material</a:t>
            </a:r>
            <a:r>
              <a:rPr lang="en-US" dirty="0">
                <a:solidFill>
                  <a:srgbClr val="EBEBEB"/>
                </a:solidFill>
              </a:rPr>
              <a:t> and </a:t>
            </a:r>
            <a:r>
              <a:rPr lang="en-US" dirty="0">
                <a:solidFill>
                  <a:schemeClr val="accent1"/>
                </a:solidFill>
              </a:rPr>
              <a:t>energy</a:t>
            </a:r>
          </a:p>
          <a:p>
            <a:pPr lvl="1"/>
            <a:r>
              <a:rPr lang="en-US" dirty="0">
                <a:solidFill>
                  <a:srgbClr val="EBEBEB"/>
                </a:solidFill>
              </a:rPr>
              <a:t>Attenuation of the same material at different energy is linearly correlated</a:t>
            </a:r>
          </a:p>
          <a:p>
            <a:r>
              <a:rPr lang="en-US" dirty="0">
                <a:solidFill>
                  <a:srgbClr val="EBEBEB"/>
                </a:solidFill>
              </a:rPr>
              <a:t>Can’t separate mixture of materials with one CT scan </a:t>
            </a:r>
          </a:p>
          <a:p>
            <a:r>
              <a:rPr lang="en-US" dirty="0">
                <a:solidFill>
                  <a:srgbClr val="EBEBEB"/>
                </a:solidFill>
              </a:rPr>
              <a:t>Can </a:t>
            </a:r>
            <a:r>
              <a:rPr lang="en-US" dirty="0">
                <a:solidFill>
                  <a:schemeClr val="accent1"/>
                </a:solidFill>
              </a:rPr>
              <a:t>separate different materials and mixtures </a:t>
            </a:r>
            <a:r>
              <a:rPr lang="en-US" dirty="0">
                <a:solidFill>
                  <a:srgbClr val="EBEBEB"/>
                </a:solidFill>
              </a:rPr>
              <a:t>if have images at two energies</a:t>
            </a:r>
          </a:p>
          <a:p>
            <a:pPr lvl="1"/>
            <a:endParaRPr lang="en-US" dirty="0">
              <a:solidFill>
                <a:srgbClr val="EBEBEB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64278B5-C456-BF49-A16B-9BF3624276D1}"/>
              </a:ext>
            </a:extLst>
          </p:cNvPr>
          <p:cNvCxnSpPr/>
          <p:nvPr/>
        </p:nvCxnSpPr>
        <p:spPr>
          <a:xfrm flipV="1">
            <a:off x="7920841" y="3040083"/>
            <a:ext cx="0" cy="18050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27062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30BB9C-1288-464B-B3D4-89F74FB1D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13" y="195943"/>
            <a:ext cx="4166510" cy="1394861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EBEBEB"/>
                </a:solidFill>
              </a:rPr>
              <a:t>Decomposition Implementation</a:t>
            </a:r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532CAE-0C92-6348-93B6-9DC5E2E34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9024" y="893373"/>
            <a:ext cx="4477892" cy="5562601"/>
          </a:xfrm>
          <a:prstGeom prst="rect">
            <a:avLst/>
          </a:prstGeom>
          <a:effectLst/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CED0D-CF60-284B-BD6D-A7E98E3E6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14" y="1507677"/>
            <a:ext cx="4166509" cy="507125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EBEBEB"/>
                </a:solidFill>
              </a:rPr>
              <a:t>Two Images at different energy</a:t>
            </a:r>
          </a:p>
          <a:p>
            <a:r>
              <a:rPr lang="en-US" dirty="0">
                <a:solidFill>
                  <a:srgbClr val="EBEBEB"/>
                </a:solidFill>
              </a:rPr>
              <a:t>Sampling 3 attenuation value at region only one of the three material exists at both energy (pure materials)</a:t>
            </a:r>
          </a:p>
          <a:p>
            <a:r>
              <a:rPr lang="en-US" dirty="0">
                <a:solidFill>
                  <a:srgbClr val="EBEBEB"/>
                </a:solidFill>
              </a:rPr>
              <a:t>Assume the three percent content at each pixel add up to one (only three materials)</a:t>
            </a:r>
          </a:p>
          <a:p>
            <a:r>
              <a:rPr lang="en-US" dirty="0">
                <a:solidFill>
                  <a:srgbClr val="EBEBEB"/>
                </a:solidFill>
              </a:rPr>
              <a:t>Find  percent content of each material at each pixel (Material distribution)</a:t>
            </a:r>
          </a:p>
        </p:txBody>
      </p:sp>
    </p:spTree>
    <p:extLst>
      <p:ext uri="{BB962C8B-B14F-4D97-AF65-F5344CB8AC3E}">
        <p14:creationId xmlns:p14="http://schemas.microsoft.com/office/powerpoint/2010/main" val="16890155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F627DF-9F70-8345-9987-58B6447D3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684" y="232498"/>
            <a:ext cx="4166510" cy="9852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EBEBEB"/>
                </a:solidFill>
              </a:rPr>
              <a:t>Shiny app</a:t>
            </a:r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5257-39EE-3540-97A3-E01036DE6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896" y="1217761"/>
            <a:ext cx="4344667" cy="3785419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EBEBEB"/>
                </a:solidFill>
              </a:rPr>
              <a:t>1. Take in two CT images</a:t>
            </a:r>
          </a:p>
          <a:p>
            <a:r>
              <a:rPr lang="en-US" dirty="0">
                <a:solidFill>
                  <a:srgbClr val="EBEBEB"/>
                </a:solidFill>
              </a:rPr>
              <a:t>2. Ask user to Define area for decomposition</a:t>
            </a:r>
          </a:p>
          <a:p>
            <a:r>
              <a:rPr lang="en-US" dirty="0">
                <a:solidFill>
                  <a:srgbClr val="EBEBEB"/>
                </a:solidFill>
              </a:rPr>
              <a:t>3. Ask user Sample the three pure materials</a:t>
            </a:r>
          </a:p>
          <a:p>
            <a:r>
              <a:rPr lang="en-US" dirty="0">
                <a:solidFill>
                  <a:srgbClr val="EBEBEB"/>
                </a:solidFill>
              </a:rPr>
              <a:t>4. Perform decomposition</a:t>
            </a:r>
          </a:p>
          <a:p>
            <a:r>
              <a:rPr lang="en-US" dirty="0">
                <a:solidFill>
                  <a:srgbClr val="EBEBEB"/>
                </a:solidFill>
              </a:rPr>
              <a:t>5. Output material percent content map as images</a:t>
            </a:r>
          </a:p>
          <a:p>
            <a:r>
              <a:rPr lang="en-US" dirty="0">
                <a:solidFill>
                  <a:srgbClr val="EBEBEB"/>
                </a:solidFill>
              </a:rPr>
              <a:t>6. show percent content of each material at user defined pixel</a:t>
            </a:r>
          </a:p>
          <a:p>
            <a:endParaRPr lang="en-US" dirty="0">
              <a:solidFill>
                <a:srgbClr val="EBEBEB"/>
              </a:solidFill>
            </a:endParaRPr>
          </a:p>
          <a:p>
            <a:endParaRPr lang="en-US" dirty="0">
              <a:solidFill>
                <a:srgbClr val="EBEBEB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88028B-F712-7140-AC53-6A9AD237E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2531" y="0"/>
            <a:ext cx="4061866" cy="34680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FA670E-BB0A-0041-848E-48FBC57D86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2531" y="3429001"/>
            <a:ext cx="4575748" cy="3429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044D982-F939-1F48-8F17-3E73A87A366D}"/>
              </a:ext>
            </a:extLst>
          </p:cNvPr>
          <p:cNvSpPr txBox="1"/>
          <p:nvPr/>
        </p:nvSpPr>
        <p:spPr>
          <a:xfrm>
            <a:off x="8002192" y="2707574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1,2,3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99F972-4677-084A-B138-0DB32AB970B1}"/>
              </a:ext>
            </a:extLst>
          </p:cNvPr>
          <p:cNvSpPr txBox="1"/>
          <p:nvPr/>
        </p:nvSpPr>
        <p:spPr>
          <a:xfrm>
            <a:off x="5954480" y="6078188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4,5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831D5B7-FEEB-DB49-A171-69FB2303105F}"/>
              </a:ext>
            </a:extLst>
          </p:cNvPr>
          <p:cNvSpPr txBox="1">
            <a:spLocks/>
          </p:cNvSpPr>
          <p:nvPr/>
        </p:nvSpPr>
        <p:spPr>
          <a:xfrm>
            <a:off x="426820" y="5170920"/>
            <a:ext cx="4056518" cy="86544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 dirty="0">
                <a:solidFill>
                  <a:schemeClr val="bg1"/>
                </a:solidFill>
              </a:rPr>
              <a:t>Demonstration</a:t>
            </a:r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47142EE8-2E78-B244-9131-AB89DD29E05F}"/>
              </a:ext>
            </a:extLst>
          </p:cNvPr>
          <p:cNvSpPr txBox="1">
            <a:spLocks/>
          </p:cNvSpPr>
          <p:nvPr/>
        </p:nvSpPr>
        <p:spPr>
          <a:xfrm>
            <a:off x="426820" y="5756040"/>
            <a:ext cx="3717248" cy="707886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n-US" dirty="0">
                <a:hlinkClick r:id="rId4"/>
              </a:rPr>
              <a:t>https://billllllly.shinyapps.io/Duel_Energy_Decomposition/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16700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195</Words>
  <Application>Microsoft Macintosh PowerPoint</Application>
  <PresentationFormat>Widescreen</PresentationFormat>
  <Paragraphs>25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Century Gothic</vt:lpstr>
      <vt:lpstr>Wingdings 3</vt:lpstr>
      <vt:lpstr>Ion</vt:lpstr>
      <vt:lpstr>Three Material Decomposition for Duel Energy CT</vt:lpstr>
      <vt:lpstr>Background</vt:lpstr>
      <vt:lpstr>Decomposition Implementation</vt:lpstr>
      <vt:lpstr>Shiny app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Three Material Decomposition for Duel Energy CT</dc:title>
  <dc:creator>Gengxin Shi</dc:creator>
  <cp:lastModifiedBy>Gengxin Shi</cp:lastModifiedBy>
  <cp:revision>9</cp:revision>
  <dcterms:created xsi:type="dcterms:W3CDTF">2019-04-27T17:09:47Z</dcterms:created>
  <dcterms:modified xsi:type="dcterms:W3CDTF">2019-04-27T19:19:27Z</dcterms:modified>
</cp:coreProperties>
</file>